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" charset="1" panose="02000503000000020004"/>
      <p:regular r:id="rId12"/>
    </p:embeddedFont>
    <p:embeddedFont>
      <p:font typeface="Inter Bold" charset="1" panose="02000503000000020004"/>
      <p:regular r:id="rId13"/>
    </p:embeddedFont>
    <p:embeddedFont>
      <p:font typeface="Inter Medium" charset="1" panose="02000503000000020004"/>
      <p:regular r:id="rId14"/>
    </p:embeddedFon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18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1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jpe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0A1C8">
                <a:alpha val="37500"/>
              </a:srgbClr>
            </a:gs>
            <a:gs pos="100000">
              <a:srgbClr val="DFFAFF">
                <a:alpha val="135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5143500"/>
            <a:ext cx="10364204" cy="10468893"/>
          </a:xfrm>
          <a:custGeom>
            <a:avLst/>
            <a:gdLst/>
            <a:ahLst/>
            <a:cxnLst/>
            <a:rect r="r" b="b" t="t" l="l"/>
            <a:pathLst>
              <a:path h="10468893" w="10364204">
                <a:moveTo>
                  <a:pt x="0" y="0"/>
                </a:moveTo>
                <a:lnTo>
                  <a:pt x="10364204" y="0"/>
                </a:lnTo>
                <a:lnTo>
                  <a:pt x="10364204" y="10468893"/>
                </a:lnTo>
                <a:lnTo>
                  <a:pt x="0" y="104688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75495" y="5847251"/>
            <a:ext cx="7885046" cy="1751008"/>
            <a:chOff x="0" y="0"/>
            <a:chExt cx="2076720" cy="4611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720" cy="461171"/>
            </a:xfrm>
            <a:custGeom>
              <a:avLst/>
              <a:gdLst/>
              <a:ahLst/>
              <a:cxnLst/>
              <a:rect r="r" b="b" t="t" l="l"/>
              <a:pathLst>
                <a:path h="461171" w="2076720">
                  <a:moveTo>
                    <a:pt x="39274" y="0"/>
                  </a:moveTo>
                  <a:lnTo>
                    <a:pt x="2037446" y="0"/>
                  </a:lnTo>
                  <a:cubicBezTo>
                    <a:pt x="2059136" y="0"/>
                    <a:pt x="2076720" y="17584"/>
                    <a:pt x="2076720" y="39274"/>
                  </a:cubicBezTo>
                  <a:lnTo>
                    <a:pt x="2076720" y="421897"/>
                  </a:lnTo>
                  <a:cubicBezTo>
                    <a:pt x="2076720" y="443587"/>
                    <a:pt x="2059136" y="461171"/>
                    <a:pt x="2037446" y="461171"/>
                  </a:cubicBezTo>
                  <a:lnTo>
                    <a:pt x="39274" y="461171"/>
                  </a:lnTo>
                  <a:cubicBezTo>
                    <a:pt x="17584" y="461171"/>
                    <a:pt x="0" y="443587"/>
                    <a:pt x="0" y="421897"/>
                  </a:cubicBezTo>
                  <a:lnTo>
                    <a:pt x="0" y="39274"/>
                  </a:lnTo>
                  <a:cubicBezTo>
                    <a:pt x="0" y="17584"/>
                    <a:pt x="17584" y="0"/>
                    <a:pt x="3927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076720" cy="508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1406525"/>
            <a:ext cx="8382000" cy="4135438"/>
            <a:chOff x="0" y="0"/>
            <a:chExt cx="2207605" cy="10891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7605" cy="1089169"/>
            </a:xfrm>
            <a:custGeom>
              <a:avLst/>
              <a:gdLst/>
              <a:ahLst/>
              <a:cxnLst/>
              <a:rect r="r" b="b" t="t" l="l"/>
              <a:pathLst>
                <a:path h="1089169" w="2207605">
                  <a:moveTo>
                    <a:pt x="36945" y="0"/>
                  </a:moveTo>
                  <a:lnTo>
                    <a:pt x="2170660" y="0"/>
                  </a:lnTo>
                  <a:cubicBezTo>
                    <a:pt x="2180458" y="0"/>
                    <a:pt x="2189855" y="3892"/>
                    <a:pt x="2196784" y="10821"/>
                  </a:cubicBezTo>
                  <a:cubicBezTo>
                    <a:pt x="2203713" y="17750"/>
                    <a:pt x="2207605" y="27147"/>
                    <a:pt x="2207605" y="36945"/>
                  </a:cubicBezTo>
                  <a:lnTo>
                    <a:pt x="2207605" y="1052223"/>
                  </a:lnTo>
                  <a:cubicBezTo>
                    <a:pt x="2207605" y="1072628"/>
                    <a:pt x="2191064" y="1089169"/>
                    <a:pt x="2170660" y="1089169"/>
                  </a:cubicBezTo>
                  <a:lnTo>
                    <a:pt x="36945" y="1089169"/>
                  </a:lnTo>
                  <a:cubicBezTo>
                    <a:pt x="27147" y="1089169"/>
                    <a:pt x="17750" y="1085276"/>
                    <a:pt x="10821" y="1078348"/>
                  </a:cubicBezTo>
                  <a:cubicBezTo>
                    <a:pt x="3892" y="1071419"/>
                    <a:pt x="0" y="1062022"/>
                    <a:pt x="0" y="1052223"/>
                  </a:cubicBezTo>
                  <a:lnTo>
                    <a:pt x="0" y="36945"/>
                  </a:lnTo>
                  <a:cubicBezTo>
                    <a:pt x="0" y="16541"/>
                    <a:pt x="16541" y="0"/>
                    <a:pt x="369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07605" cy="11367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4491" y="1406525"/>
            <a:ext cx="8357109" cy="8270875"/>
            <a:chOff x="0" y="0"/>
            <a:chExt cx="2201049" cy="21783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1049" cy="2178338"/>
            </a:xfrm>
            <a:custGeom>
              <a:avLst/>
              <a:gdLst/>
              <a:ahLst/>
              <a:cxnLst/>
              <a:rect r="r" b="b" t="t" l="l"/>
              <a:pathLst>
                <a:path h="2178338" w="2201049">
                  <a:moveTo>
                    <a:pt x="37055" y="0"/>
                  </a:moveTo>
                  <a:lnTo>
                    <a:pt x="2163994" y="0"/>
                  </a:lnTo>
                  <a:cubicBezTo>
                    <a:pt x="2173821" y="0"/>
                    <a:pt x="2183247" y="3904"/>
                    <a:pt x="2190196" y="10853"/>
                  </a:cubicBezTo>
                  <a:cubicBezTo>
                    <a:pt x="2197145" y="17803"/>
                    <a:pt x="2201049" y="27228"/>
                    <a:pt x="2201049" y="37055"/>
                  </a:cubicBezTo>
                  <a:lnTo>
                    <a:pt x="2201049" y="2141282"/>
                  </a:lnTo>
                  <a:cubicBezTo>
                    <a:pt x="2201049" y="2151110"/>
                    <a:pt x="2197145" y="2160535"/>
                    <a:pt x="2190196" y="2167484"/>
                  </a:cubicBezTo>
                  <a:cubicBezTo>
                    <a:pt x="2183247" y="2174434"/>
                    <a:pt x="2173821" y="2178338"/>
                    <a:pt x="2163994" y="2178338"/>
                  </a:cubicBezTo>
                  <a:lnTo>
                    <a:pt x="37055" y="2178338"/>
                  </a:lnTo>
                  <a:cubicBezTo>
                    <a:pt x="27228" y="2178338"/>
                    <a:pt x="17803" y="2174434"/>
                    <a:pt x="10853" y="2167484"/>
                  </a:cubicBezTo>
                  <a:cubicBezTo>
                    <a:pt x="3904" y="2160535"/>
                    <a:pt x="0" y="2151110"/>
                    <a:pt x="0" y="2141282"/>
                  </a:cubicBezTo>
                  <a:lnTo>
                    <a:pt x="0" y="37055"/>
                  </a:lnTo>
                  <a:cubicBezTo>
                    <a:pt x="0" y="27228"/>
                    <a:pt x="3904" y="17803"/>
                    <a:pt x="10853" y="10853"/>
                  </a:cubicBezTo>
                  <a:cubicBezTo>
                    <a:pt x="17803" y="3904"/>
                    <a:pt x="27228" y="0"/>
                    <a:pt x="3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01049" cy="2225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-1009928" y="2049186"/>
            <a:ext cx="8553728" cy="10576479"/>
          </a:xfrm>
          <a:custGeom>
            <a:avLst/>
            <a:gdLst/>
            <a:ahLst/>
            <a:cxnLst/>
            <a:rect r="r" b="b" t="t" l="l"/>
            <a:pathLst>
              <a:path h="10576479" w="8553728">
                <a:moveTo>
                  <a:pt x="8553728" y="0"/>
                </a:moveTo>
                <a:lnTo>
                  <a:pt x="0" y="0"/>
                </a:lnTo>
                <a:lnTo>
                  <a:pt x="0" y="10576479"/>
                </a:lnTo>
                <a:lnTo>
                  <a:pt x="8553728" y="10576479"/>
                </a:lnTo>
                <a:lnTo>
                  <a:pt x="855372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61587">
            <a:off x="3415614" y="2248572"/>
            <a:ext cx="3231517" cy="6840978"/>
            <a:chOff x="0" y="0"/>
            <a:chExt cx="500647" cy="10598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0647" cy="1059847"/>
            </a:xfrm>
            <a:custGeom>
              <a:avLst/>
              <a:gdLst/>
              <a:ahLst/>
              <a:cxnLst/>
              <a:rect r="r" b="b" t="t" l="l"/>
              <a:pathLst>
                <a:path h="1059847" w="500647">
                  <a:moveTo>
                    <a:pt x="81456" y="0"/>
                  </a:moveTo>
                  <a:lnTo>
                    <a:pt x="419191" y="0"/>
                  </a:lnTo>
                  <a:cubicBezTo>
                    <a:pt x="464178" y="0"/>
                    <a:pt x="500647" y="36469"/>
                    <a:pt x="500647" y="81456"/>
                  </a:cubicBezTo>
                  <a:lnTo>
                    <a:pt x="500647" y="978391"/>
                  </a:lnTo>
                  <a:cubicBezTo>
                    <a:pt x="500647" y="1023378"/>
                    <a:pt x="464178" y="1059847"/>
                    <a:pt x="419191" y="1059847"/>
                  </a:cubicBezTo>
                  <a:lnTo>
                    <a:pt x="81456" y="1059847"/>
                  </a:lnTo>
                  <a:cubicBezTo>
                    <a:pt x="36469" y="1059847"/>
                    <a:pt x="0" y="1023378"/>
                    <a:pt x="0" y="978391"/>
                  </a:cubicBezTo>
                  <a:lnTo>
                    <a:pt x="0" y="81456"/>
                  </a:lnTo>
                  <a:cubicBezTo>
                    <a:pt x="0" y="36469"/>
                    <a:pt x="36469" y="0"/>
                    <a:pt x="81456" y="0"/>
                  </a:cubicBezTo>
                  <a:close/>
                </a:path>
              </a:pathLst>
            </a:custGeom>
            <a:blipFill>
              <a:blip r:embed="rId5"/>
              <a:stretch>
                <a:fillRect l="-9539" t="0" r="-9539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34491" y="278851"/>
            <a:ext cx="2720107" cy="668693"/>
          </a:xfrm>
          <a:custGeom>
            <a:avLst/>
            <a:gdLst/>
            <a:ahLst/>
            <a:cxnLst/>
            <a:rect r="r" b="b" t="t" l="l"/>
            <a:pathLst>
              <a:path h="668693" w="2720107">
                <a:moveTo>
                  <a:pt x="0" y="0"/>
                </a:moveTo>
                <a:lnTo>
                  <a:pt x="2720107" y="0"/>
                </a:lnTo>
                <a:lnTo>
                  <a:pt x="2720107" y="668693"/>
                </a:lnTo>
                <a:lnTo>
                  <a:pt x="0" y="668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60418" y="2106336"/>
            <a:ext cx="7315200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</a:pPr>
            <a:r>
              <a:rPr lang="en-US" sz="5400" spc="-86">
                <a:solidFill>
                  <a:srgbClr val="1E1E1C"/>
                </a:solidFill>
                <a:latin typeface="Inter"/>
                <a:ea typeface="Inter"/>
                <a:cs typeface="Inter"/>
                <a:sym typeface="Inter"/>
              </a:rPr>
              <a:t>Proyecto: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60418" y="3060139"/>
            <a:ext cx="731520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</a:pPr>
            <a:r>
              <a:rPr lang="en-US" b="true" sz="3500" spc="-5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Alejandra Producciones: gestión d</a:t>
            </a:r>
            <a:r>
              <a:rPr lang="en-US" b="true" sz="3500" spc="-5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e inventario LED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36704" y="6249814"/>
            <a:ext cx="29718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000">
                <a:solidFill>
                  <a:srgbClr val="1E1E1C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Presentado: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6704" y="6640339"/>
            <a:ext cx="29718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1E1C"/>
                </a:solidFill>
                <a:latin typeface="Inter"/>
                <a:ea typeface="Inter"/>
                <a:cs typeface="Inter"/>
                <a:sym typeface="Inter"/>
              </a:rPr>
              <a:t>Lucas Hernadez</a:t>
            </a:r>
          </a:p>
          <a:p>
            <a:pPr algn="l" marL="431802" indent="-2159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E1E1C"/>
                </a:solidFill>
                <a:latin typeface="Inter"/>
                <a:ea typeface="Inter"/>
                <a:cs typeface="Inter"/>
                <a:sym typeface="Inter"/>
              </a:rPr>
              <a:t>Nicolas Ponce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0A1C8">
                <a:alpha val="37500"/>
              </a:srgbClr>
            </a:gs>
            <a:gs pos="100000">
              <a:srgbClr val="DFFAFF">
                <a:alpha val="135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48345" y="6712796"/>
            <a:ext cx="11097491" cy="6866573"/>
          </a:xfrm>
          <a:custGeom>
            <a:avLst/>
            <a:gdLst/>
            <a:ahLst/>
            <a:cxnLst/>
            <a:rect r="r" b="b" t="t" l="l"/>
            <a:pathLst>
              <a:path h="6866573" w="11097491">
                <a:moveTo>
                  <a:pt x="0" y="0"/>
                </a:moveTo>
                <a:lnTo>
                  <a:pt x="11097490" y="0"/>
                </a:lnTo>
                <a:lnTo>
                  <a:pt x="11097490" y="6866572"/>
                </a:lnTo>
                <a:lnTo>
                  <a:pt x="0" y="6866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4491" y="1447198"/>
            <a:ext cx="17043909" cy="8270875"/>
            <a:chOff x="0" y="0"/>
            <a:chExt cx="4488931" cy="21783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8931" cy="2178338"/>
            </a:xfrm>
            <a:custGeom>
              <a:avLst/>
              <a:gdLst/>
              <a:ahLst/>
              <a:cxnLst/>
              <a:rect r="r" b="b" t="t" l="l"/>
              <a:pathLst>
                <a:path h="2178338" w="4488931">
                  <a:moveTo>
                    <a:pt x="18169" y="0"/>
                  </a:moveTo>
                  <a:lnTo>
                    <a:pt x="4470761" y="0"/>
                  </a:lnTo>
                  <a:cubicBezTo>
                    <a:pt x="4475580" y="0"/>
                    <a:pt x="4480202" y="1914"/>
                    <a:pt x="4483609" y="5322"/>
                  </a:cubicBezTo>
                  <a:cubicBezTo>
                    <a:pt x="4487016" y="8729"/>
                    <a:pt x="4488931" y="13351"/>
                    <a:pt x="4488931" y="18169"/>
                  </a:cubicBezTo>
                  <a:lnTo>
                    <a:pt x="4488931" y="2160168"/>
                  </a:lnTo>
                  <a:cubicBezTo>
                    <a:pt x="4488931" y="2170203"/>
                    <a:pt x="4480796" y="2178338"/>
                    <a:pt x="4470761" y="2178338"/>
                  </a:cubicBezTo>
                  <a:lnTo>
                    <a:pt x="18169" y="2178338"/>
                  </a:lnTo>
                  <a:cubicBezTo>
                    <a:pt x="8135" y="2178338"/>
                    <a:pt x="0" y="2170203"/>
                    <a:pt x="0" y="2160168"/>
                  </a:cubicBezTo>
                  <a:lnTo>
                    <a:pt x="0" y="18169"/>
                  </a:lnTo>
                  <a:cubicBezTo>
                    <a:pt x="0" y="8135"/>
                    <a:pt x="8135" y="0"/>
                    <a:pt x="181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8931" cy="2225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45924" y="2671356"/>
            <a:ext cx="8618542" cy="2773291"/>
            <a:chOff x="0" y="0"/>
            <a:chExt cx="2269904" cy="730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9904" cy="730414"/>
            </a:xfrm>
            <a:custGeom>
              <a:avLst/>
              <a:gdLst/>
              <a:ahLst/>
              <a:cxnLst/>
              <a:rect r="r" b="b" t="t" l="l"/>
              <a:pathLst>
                <a:path h="730414" w="2269904">
                  <a:moveTo>
                    <a:pt x="35931" y="0"/>
                  </a:moveTo>
                  <a:lnTo>
                    <a:pt x="2233973" y="0"/>
                  </a:lnTo>
                  <a:cubicBezTo>
                    <a:pt x="2253817" y="0"/>
                    <a:pt x="2269904" y="16087"/>
                    <a:pt x="2269904" y="35931"/>
                  </a:cubicBezTo>
                  <a:lnTo>
                    <a:pt x="2269904" y="694483"/>
                  </a:lnTo>
                  <a:cubicBezTo>
                    <a:pt x="2269904" y="714327"/>
                    <a:pt x="2253817" y="730414"/>
                    <a:pt x="2233973" y="730414"/>
                  </a:cubicBezTo>
                  <a:lnTo>
                    <a:pt x="35931" y="730414"/>
                  </a:lnTo>
                  <a:cubicBezTo>
                    <a:pt x="16087" y="730414"/>
                    <a:pt x="0" y="714327"/>
                    <a:pt x="0" y="694483"/>
                  </a:cubicBezTo>
                  <a:lnTo>
                    <a:pt x="0" y="35931"/>
                  </a:lnTo>
                  <a:cubicBezTo>
                    <a:pt x="0" y="16087"/>
                    <a:pt x="16087" y="0"/>
                    <a:pt x="3593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69904" cy="778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12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Alejandra Producciones controla pistas de baile y palmetas LED que se usan en eventos masivos.</a:t>
              </a:r>
            </a:p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12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Hoy los registros son manuales o por mensajería informal, sin una sincronización centralizada.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45924" y="6712796"/>
            <a:ext cx="8618542" cy="2672269"/>
            <a:chOff x="0" y="0"/>
            <a:chExt cx="2269904" cy="7038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9904" cy="703807"/>
            </a:xfrm>
            <a:custGeom>
              <a:avLst/>
              <a:gdLst/>
              <a:ahLst/>
              <a:cxnLst/>
              <a:rect r="r" b="b" t="t" l="l"/>
              <a:pathLst>
                <a:path h="703807" w="2269904">
                  <a:moveTo>
                    <a:pt x="35931" y="0"/>
                  </a:moveTo>
                  <a:lnTo>
                    <a:pt x="2233973" y="0"/>
                  </a:lnTo>
                  <a:cubicBezTo>
                    <a:pt x="2253817" y="0"/>
                    <a:pt x="2269904" y="16087"/>
                    <a:pt x="2269904" y="35931"/>
                  </a:cubicBezTo>
                  <a:lnTo>
                    <a:pt x="2269904" y="667876"/>
                  </a:lnTo>
                  <a:cubicBezTo>
                    <a:pt x="2269904" y="677406"/>
                    <a:pt x="2266118" y="686545"/>
                    <a:pt x="2259380" y="693283"/>
                  </a:cubicBezTo>
                  <a:cubicBezTo>
                    <a:pt x="2252642" y="700022"/>
                    <a:pt x="2243502" y="703807"/>
                    <a:pt x="2233973" y="703807"/>
                  </a:cubicBezTo>
                  <a:lnTo>
                    <a:pt x="35931" y="703807"/>
                  </a:lnTo>
                  <a:cubicBezTo>
                    <a:pt x="16087" y="703807"/>
                    <a:pt x="0" y="687720"/>
                    <a:pt x="0" y="667876"/>
                  </a:cubicBezTo>
                  <a:lnTo>
                    <a:pt x="0" y="35931"/>
                  </a:lnTo>
                  <a:cubicBezTo>
                    <a:pt x="0" y="16087"/>
                    <a:pt x="16087" y="0"/>
                    <a:pt x="3593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69904" cy="751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12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</a:t>
              </a:r>
              <a:r>
                <a:rPr lang="en-US" sz="2400" spc="12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 pierde información y trazabilidad de las fallas  </a:t>
              </a:r>
            </a:p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12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</a:t>
              </a:r>
              <a:r>
                <a:rPr lang="en-US" sz="2400" spc="12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iempos de inactividad de palmetas led.</a:t>
              </a:r>
            </a:p>
            <a:p>
              <a:pPr algn="just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sz="2400" spc="12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No existe inventario certero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231835" y="2674233"/>
            <a:ext cx="5402307" cy="5540827"/>
          </a:xfrm>
          <a:custGeom>
            <a:avLst/>
            <a:gdLst/>
            <a:ahLst/>
            <a:cxnLst/>
            <a:rect r="r" b="b" t="t" l="l"/>
            <a:pathLst>
              <a:path h="5540827" w="5402307">
                <a:moveTo>
                  <a:pt x="0" y="0"/>
                </a:moveTo>
                <a:lnTo>
                  <a:pt x="5402307" y="0"/>
                </a:lnTo>
                <a:lnTo>
                  <a:pt x="5402307" y="5540828"/>
                </a:lnTo>
                <a:lnTo>
                  <a:pt x="0" y="554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45924" y="1636939"/>
            <a:ext cx="4416574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9"/>
              </a:lnSpc>
            </a:pPr>
            <a:r>
              <a:rPr lang="en-US" b="true" sz="5499" spc="-87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Contexto </a:t>
            </a:r>
            <a:r>
              <a:rPr lang="en-US" b="true" sz="5499" spc="-87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924" y="5720872"/>
            <a:ext cx="8618542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49"/>
              </a:lnSpc>
            </a:pPr>
            <a:r>
              <a:rPr lang="en-US" b="true" sz="5499" spc="-87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Problemáticas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6891" y="431251"/>
            <a:ext cx="2720107" cy="668693"/>
          </a:xfrm>
          <a:custGeom>
            <a:avLst/>
            <a:gdLst/>
            <a:ahLst/>
            <a:cxnLst/>
            <a:rect r="r" b="b" t="t" l="l"/>
            <a:pathLst>
              <a:path h="668693" w="2720107">
                <a:moveTo>
                  <a:pt x="0" y="0"/>
                </a:moveTo>
                <a:lnTo>
                  <a:pt x="2720107" y="0"/>
                </a:lnTo>
                <a:lnTo>
                  <a:pt x="2720107" y="668693"/>
                </a:lnTo>
                <a:lnTo>
                  <a:pt x="0" y="6686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0A1C8">
                <a:alpha val="37500"/>
              </a:srgbClr>
            </a:gs>
            <a:gs pos="100000">
              <a:srgbClr val="DFFAFF">
                <a:alpha val="135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0375" y="-4069403"/>
            <a:ext cx="9726693" cy="8024522"/>
          </a:xfrm>
          <a:custGeom>
            <a:avLst/>
            <a:gdLst/>
            <a:ahLst/>
            <a:cxnLst/>
            <a:rect r="r" b="b" t="t" l="l"/>
            <a:pathLst>
              <a:path h="8024522" w="9726693">
                <a:moveTo>
                  <a:pt x="0" y="0"/>
                </a:moveTo>
                <a:lnTo>
                  <a:pt x="9726693" y="0"/>
                </a:lnTo>
                <a:lnTo>
                  <a:pt x="9726693" y="8024522"/>
                </a:lnTo>
                <a:lnTo>
                  <a:pt x="0" y="8024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004" y="2123078"/>
            <a:ext cx="2232660" cy="796290"/>
            <a:chOff x="0" y="0"/>
            <a:chExt cx="2976880" cy="1061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76880" cy="1061720"/>
            </a:xfrm>
            <a:custGeom>
              <a:avLst/>
              <a:gdLst/>
              <a:ahLst/>
              <a:cxnLst/>
              <a:rect r="r" b="b" t="t" l="l"/>
              <a:pathLst>
                <a:path h="1061720" w="2976880">
                  <a:moveTo>
                    <a:pt x="0" y="530860"/>
                  </a:moveTo>
                  <a:cubicBezTo>
                    <a:pt x="0" y="237640"/>
                    <a:pt x="338836" y="0"/>
                    <a:pt x="756920" y="0"/>
                  </a:cubicBezTo>
                  <a:lnTo>
                    <a:pt x="2219960" y="0"/>
                  </a:lnTo>
                  <a:cubicBezTo>
                    <a:pt x="2638044" y="0"/>
                    <a:pt x="2976880" y="237640"/>
                    <a:pt x="2976880" y="530860"/>
                  </a:cubicBezTo>
                  <a:cubicBezTo>
                    <a:pt x="2976880" y="824080"/>
                    <a:pt x="2638044" y="1061720"/>
                    <a:pt x="2219960" y="1061720"/>
                  </a:cubicBezTo>
                  <a:lnTo>
                    <a:pt x="756920" y="1061720"/>
                  </a:lnTo>
                  <a:cubicBezTo>
                    <a:pt x="338836" y="1061720"/>
                    <a:pt x="0" y="824080"/>
                    <a:pt x="0" y="53086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213A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487004" y="2254523"/>
            <a:ext cx="21945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48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308429" y="2123078"/>
            <a:ext cx="2232660" cy="796290"/>
            <a:chOff x="0" y="0"/>
            <a:chExt cx="2976880" cy="1061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76880" cy="1061720"/>
            </a:xfrm>
            <a:custGeom>
              <a:avLst/>
              <a:gdLst/>
              <a:ahLst/>
              <a:cxnLst/>
              <a:rect r="r" b="b" t="t" l="l"/>
              <a:pathLst>
                <a:path h="1061720" w="2976880">
                  <a:moveTo>
                    <a:pt x="0" y="530860"/>
                  </a:moveTo>
                  <a:cubicBezTo>
                    <a:pt x="0" y="237640"/>
                    <a:pt x="338836" y="0"/>
                    <a:pt x="756920" y="0"/>
                  </a:cubicBezTo>
                  <a:lnTo>
                    <a:pt x="2219960" y="0"/>
                  </a:lnTo>
                  <a:cubicBezTo>
                    <a:pt x="2638044" y="0"/>
                    <a:pt x="2976880" y="237640"/>
                    <a:pt x="2976880" y="530860"/>
                  </a:cubicBezTo>
                  <a:cubicBezTo>
                    <a:pt x="2976880" y="824080"/>
                    <a:pt x="2638044" y="1061720"/>
                    <a:pt x="2219960" y="1061720"/>
                  </a:cubicBezTo>
                  <a:lnTo>
                    <a:pt x="756920" y="1061720"/>
                  </a:lnTo>
                  <a:cubicBezTo>
                    <a:pt x="338836" y="1061720"/>
                    <a:pt x="0" y="824080"/>
                    <a:pt x="0" y="53086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213A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3255609" y="2368823"/>
            <a:ext cx="438912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48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423229" y="2123078"/>
            <a:ext cx="2232660" cy="796290"/>
            <a:chOff x="0" y="0"/>
            <a:chExt cx="2976880" cy="106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76880" cy="1061720"/>
            </a:xfrm>
            <a:custGeom>
              <a:avLst/>
              <a:gdLst/>
              <a:ahLst/>
              <a:cxnLst/>
              <a:rect r="r" b="b" t="t" l="l"/>
              <a:pathLst>
                <a:path h="1061720" w="2976880">
                  <a:moveTo>
                    <a:pt x="0" y="530860"/>
                  </a:moveTo>
                  <a:cubicBezTo>
                    <a:pt x="0" y="237640"/>
                    <a:pt x="338836" y="0"/>
                    <a:pt x="756920" y="0"/>
                  </a:cubicBezTo>
                  <a:lnTo>
                    <a:pt x="2219960" y="0"/>
                  </a:lnTo>
                  <a:cubicBezTo>
                    <a:pt x="2638044" y="0"/>
                    <a:pt x="2976880" y="237640"/>
                    <a:pt x="2976880" y="530860"/>
                  </a:cubicBezTo>
                  <a:cubicBezTo>
                    <a:pt x="2976880" y="824080"/>
                    <a:pt x="2638044" y="1061720"/>
                    <a:pt x="2219960" y="1061720"/>
                  </a:cubicBezTo>
                  <a:lnTo>
                    <a:pt x="756920" y="1061720"/>
                  </a:lnTo>
                  <a:cubicBezTo>
                    <a:pt x="338836" y="1061720"/>
                    <a:pt x="0" y="824080"/>
                    <a:pt x="0" y="53086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213A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167959" y="2349773"/>
            <a:ext cx="27432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480">
                <a:solidFill>
                  <a:srgbClr val="231F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51280" y="2123078"/>
            <a:ext cx="2232660" cy="796290"/>
            <a:chOff x="0" y="0"/>
            <a:chExt cx="2976880" cy="106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76880" cy="1061720"/>
            </a:xfrm>
            <a:custGeom>
              <a:avLst/>
              <a:gdLst/>
              <a:ahLst/>
              <a:cxnLst/>
              <a:rect r="r" b="b" t="t" l="l"/>
              <a:pathLst>
                <a:path h="1061720" w="2976880">
                  <a:moveTo>
                    <a:pt x="0" y="530860"/>
                  </a:moveTo>
                  <a:cubicBezTo>
                    <a:pt x="0" y="237640"/>
                    <a:pt x="338836" y="0"/>
                    <a:pt x="756920" y="0"/>
                  </a:cubicBezTo>
                  <a:lnTo>
                    <a:pt x="2219960" y="0"/>
                  </a:lnTo>
                  <a:cubicBezTo>
                    <a:pt x="2638044" y="0"/>
                    <a:pt x="2976880" y="237640"/>
                    <a:pt x="2976880" y="530860"/>
                  </a:cubicBezTo>
                  <a:cubicBezTo>
                    <a:pt x="2976880" y="824080"/>
                    <a:pt x="2638044" y="1061720"/>
                    <a:pt x="2219960" y="1061720"/>
                  </a:cubicBezTo>
                  <a:lnTo>
                    <a:pt x="756920" y="1061720"/>
                  </a:lnTo>
                  <a:cubicBezTo>
                    <a:pt x="338836" y="1061720"/>
                    <a:pt x="0" y="824080"/>
                    <a:pt x="0" y="53086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213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1485209" y="2349773"/>
            <a:ext cx="310896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480">
                <a:solidFill>
                  <a:srgbClr val="1E1E1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019113" y="2123078"/>
            <a:ext cx="2574011" cy="796290"/>
            <a:chOff x="0" y="0"/>
            <a:chExt cx="3432015" cy="1061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32015" cy="1061720"/>
            </a:xfrm>
            <a:custGeom>
              <a:avLst/>
              <a:gdLst/>
              <a:ahLst/>
              <a:cxnLst/>
              <a:rect r="r" b="b" t="t" l="l"/>
              <a:pathLst>
                <a:path h="1061720" w="3432015">
                  <a:moveTo>
                    <a:pt x="0" y="530860"/>
                  </a:moveTo>
                  <a:cubicBezTo>
                    <a:pt x="0" y="237640"/>
                    <a:pt x="390641" y="0"/>
                    <a:pt x="872645" y="0"/>
                  </a:cubicBezTo>
                  <a:lnTo>
                    <a:pt x="2559370" y="0"/>
                  </a:lnTo>
                  <a:cubicBezTo>
                    <a:pt x="3041375" y="0"/>
                    <a:pt x="3432015" y="237640"/>
                    <a:pt x="3432015" y="530860"/>
                  </a:cubicBezTo>
                  <a:cubicBezTo>
                    <a:pt x="3432015" y="824080"/>
                    <a:pt x="3041375" y="1061720"/>
                    <a:pt x="2559370" y="1061720"/>
                  </a:cubicBezTo>
                  <a:lnTo>
                    <a:pt x="872645" y="1061720"/>
                  </a:lnTo>
                  <a:cubicBezTo>
                    <a:pt x="390641" y="1061720"/>
                    <a:pt x="0" y="824080"/>
                    <a:pt x="0" y="53086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213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5127569" y="2157368"/>
            <a:ext cx="237744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400" spc="48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BASE DE DATOS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67954" y="3919493"/>
            <a:ext cx="2232660" cy="1135380"/>
            <a:chOff x="0" y="0"/>
            <a:chExt cx="2976880" cy="1513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76880" cy="1513840"/>
            </a:xfrm>
            <a:custGeom>
              <a:avLst/>
              <a:gdLst/>
              <a:ahLst/>
              <a:cxnLst/>
              <a:rect r="r" b="b" t="t" l="l"/>
              <a:pathLst>
                <a:path h="1513840" w="2976880">
                  <a:moveTo>
                    <a:pt x="0" y="756920"/>
                  </a:moveTo>
                  <a:cubicBezTo>
                    <a:pt x="0" y="338836"/>
                    <a:pt x="338836" y="0"/>
                    <a:pt x="756920" y="0"/>
                  </a:cubicBezTo>
                  <a:lnTo>
                    <a:pt x="2219960" y="0"/>
                  </a:lnTo>
                  <a:cubicBezTo>
                    <a:pt x="2638044" y="0"/>
                    <a:pt x="2976880" y="338836"/>
                    <a:pt x="2976880" y="756920"/>
                  </a:cubicBezTo>
                  <a:cubicBezTo>
                    <a:pt x="2976880" y="1175004"/>
                    <a:pt x="2638044" y="1513840"/>
                    <a:pt x="2219960" y="1513840"/>
                  </a:cubicBezTo>
                  <a:lnTo>
                    <a:pt x="756920" y="1513840"/>
                  </a:lnTo>
                  <a:cubicBezTo>
                    <a:pt x="338836" y="1513840"/>
                    <a:pt x="0" y="1175004"/>
                    <a:pt x="0" y="75692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213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61608" y="3938539"/>
            <a:ext cx="2194560" cy="1097280"/>
            <a:chOff x="0" y="0"/>
            <a:chExt cx="292608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926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9260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Técnico en terreno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2656168" y="4461783"/>
            <a:ext cx="599441" cy="50800"/>
          </a:xfrm>
          <a:prstGeom prst="line">
            <a:avLst/>
          </a:prstGeom>
          <a:ln cap="rnd" w="19050">
            <a:solidFill>
              <a:srgbClr val="1621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467954" y="7211333"/>
            <a:ext cx="2232660" cy="1135380"/>
            <a:chOff x="0" y="0"/>
            <a:chExt cx="2976880" cy="1513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76880" cy="1513840"/>
            </a:xfrm>
            <a:custGeom>
              <a:avLst/>
              <a:gdLst/>
              <a:ahLst/>
              <a:cxnLst/>
              <a:rect r="r" b="b" t="t" l="l"/>
              <a:pathLst>
                <a:path h="1513840" w="2976880">
                  <a:moveTo>
                    <a:pt x="0" y="756920"/>
                  </a:moveTo>
                  <a:cubicBezTo>
                    <a:pt x="0" y="338836"/>
                    <a:pt x="338836" y="0"/>
                    <a:pt x="756920" y="0"/>
                  </a:cubicBezTo>
                  <a:lnTo>
                    <a:pt x="2219960" y="0"/>
                  </a:lnTo>
                  <a:cubicBezTo>
                    <a:pt x="2638044" y="0"/>
                    <a:pt x="2976880" y="338836"/>
                    <a:pt x="2976880" y="756920"/>
                  </a:cubicBezTo>
                  <a:cubicBezTo>
                    <a:pt x="2976880" y="1175004"/>
                    <a:pt x="2638044" y="1513840"/>
                    <a:pt x="2219960" y="1513840"/>
                  </a:cubicBezTo>
                  <a:lnTo>
                    <a:pt x="756920" y="1513840"/>
                  </a:lnTo>
                  <a:cubicBezTo>
                    <a:pt x="338836" y="1513840"/>
                    <a:pt x="0" y="1175004"/>
                    <a:pt x="0" y="75692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6213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87004" y="7230383"/>
            <a:ext cx="2015960" cy="1097280"/>
            <a:chOff x="0" y="0"/>
            <a:chExt cx="2687947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87947" cy="1463040"/>
            </a:xfrm>
            <a:custGeom>
              <a:avLst/>
              <a:gdLst/>
              <a:ahLst/>
              <a:cxnLst/>
              <a:rect r="r" b="b" t="t" l="l"/>
              <a:pathLst>
                <a:path h="1463040" w="2687947">
                  <a:moveTo>
                    <a:pt x="0" y="0"/>
                  </a:moveTo>
                  <a:lnTo>
                    <a:pt x="2687947" y="0"/>
                  </a:lnTo>
                  <a:lnTo>
                    <a:pt x="268794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405" t="0" r="-2426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687947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Jefatura AleProd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2656168" y="7753623"/>
            <a:ext cx="599441" cy="50800"/>
          </a:xfrm>
          <a:prstGeom prst="line">
            <a:avLst/>
          </a:prstGeom>
          <a:ln cap="rnd" w="19050">
            <a:solidFill>
              <a:srgbClr val="1621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3204801" y="3090180"/>
            <a:ext cx="4439917" cy="2793997"/>
            <a:chOff x="0" y="0"/>
            <a:chExt cx="5919889" cy="37253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19851" cy="3725291"/>
            </a:xfrm>
            <a:custGeom>
              <a:avLst/>
              <a:gdLst/>
              <a:ahLst/>
              <a:cxnLst/>
              <a:rect r="r" b="b" t="t" l="l"/>
              <a:pathLst>
                <a:path h="3725291" w="5919851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5721223" y="0"/>
                  </a:lnTo>
                  <a:cubicBezTo>
                    <a:pt x="5830951" y="0"/>
                    <a:pt x="5919851" y="88900"/>
                    <a:pt x="5919851" y="198628"/>
                  </a:cubicBezTo>
                  <a:lnTo>
                    <a:pt x="5919851" y="3526663"/>
                  </a:lnTo>
                  <a:cubicBezTo>
                    <a:pt x="5919851" y="3636391"/>
                    <a:pt x="5830951" y="3725291"/>
                    <a:pt x="5721223" y="3725291"/>
                  </a:cubicBezTo>
                  <a:lnTo>
                    <a:pt x="198628" y="3725291"/>
                  </a:lnTo>
                  <a:cubicBezTo>
                    <a:pt x="88900" y="3725291"/>
                    <a:pt x="0" y="3636391"/>
                    <a:pt x="0" y="3526663"/>
                  </a:cubicBezTo>
                  <a:close/>
                </a:path>
              </a:pathLst>
            </a:custGeom>
            <a:solidFill>
              <a:srgbClr val="DCE9FB"/>
            </a:solidFill>
            <a:ln w="50800" cap="sq">
              <a:solidFill>
                <a:srgbClr val="2A6FDB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3413084" y="3223787"/>
            <a:ext cx="402336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62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móvil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· Expo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5B6579"/>
                </a:solidFill>
                <a:latin typeface="Calibri (MS)"/>
                <a:ea typeface="Calibri (MS)"/>
                <a:cs typeface="Calibri (MS)"/>
                <a:sym typeface="Calibri (MS)"/>
              </a:rPr>
              <a:t>SQLite (offline) · Cámara y escáner QR de las palmetas LED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204801" y="6382020"/>
            <a:ext cx="4439917" cy="2793997"/>
            <a:chOff x="0" y="0"/>
            <a:chExt cx="5919889" cy="37253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919851" cy="3725291"/>
            </a:xfrm>
            <a:custGeom>
              <a:avLst/>
              <a:gdLst/>
              <a:ahLst/>
              <a:cxnLst/>
              <a:rect r="r" b="b" t="t" l="l"/>
              <a:pathLst>
                <a:path h="3725291" w="5919851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5721223" y="0"/>
                  </a:lnTo>
                  <a:cubicBezTo>
                    <a:pt x="5830951" y="0"/>
                    <a:pt x="5919851" y="88900"/>
                    <a:pt x="5919851" y="198628"/>
                  </a:cubicBezTo>
                  <a:lnTo>
                    <a:pt x="5919851" y="3526663"/>
                  </a:lnTo>
                  <a:cubicBezTo>
                    <a:pt x="5919851" y="3636391"/>
                    <a:pt x="5830951" y="3725291"/>
                    <a:pt x="5721223" y="3725291"/>
                  </a:cubicBezTo>
                  <a:lnTo>
                    <a:pt x="198628" y="3725291"/>
                  </a:lnTo>
                  <a:cubicBezTo>
                    <a:pt x="88900" y="3725291"/>
                    <a:pt x="0" y="3636391"/>
                    <a:pt x="0" y="3526663"/>
                  </a:cubicBezTo>
                  <a:close/>
                </a:path>
              </a:pathLst>
            </a:custGeom>
            <a:solidFill>
              <a:srgbClr val="DCE9FB"/>
            </a:solidFill>
            <a:ln w="50800" cap="sq">
              <a:solidFill>
                <a:srgbClr val="2A6FDB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3413084" y="6552203"/>
            <a:ext cx="402336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62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web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Next.js · Vercel Edge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5B6579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de inventario y métricas</a:t>
            </a:r>
          </a:p>
        </p:txBody>
      </p:sp>
      <p:sp>
        <p:nvSpPr>
          <p:cNvPr name="AutoShape 36" id="36"/>
          <p:cNvSpPr/>
          <p:nvPr/>
        </p:nvSpPr>
        <p:spPr>
          <a:xfrm>
            <a:off x="7593928" y="4461783"/>
            <a:ext cx="599441" cy="50800"/>
          </a:xfrm>
          <a:prstGeom prst="line">
            <a:avLst/>
          </a:prstGeom>
          <a:ln cap="rnd" w="19050">
            <a:solidFill>
              <a:srgbClr val="16213A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7593928" y="7753623"/>
            <a:ext cx="599441" cy="50800"/>
          </a:xfrm>
          <a:prstGeom prst="line">
            <a:avLst/>
          </a:prstGeom>
          <a:ln cap="rnd" w="19050">
            <a:solidFill>
              <a:srgbClr val="16213A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38" id="38"/>
          <p:cNvGrpSpPr/>
          <p:nvPr/>
        </p:nvGrpSpPr>
        <p:grpSpPr>
          <a:xfrm rot="0">
            <a:off x="8142561" y="3090180"/>
            <a:ext cx="2793997" cy="6085837"/>
            <a:chOff x="0" y="0"/>
            <a:chExt cx="3725329" cy="81144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725291" cy="8114411"/>
            </a:xfrm>
            <a:custGeom>
              <a:avLst/>
              <a:gdLst/>
              <a:ahLst/>
              <a:cxnLst/>
              <a:rect r="r" b="b" t="t" l="l"/>
              <a:pathLst>
                <a:path h="8114411" w="3725291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3526663" y="0"/>
                  </a:lnTo>
                  <a:cubicBezTo>
                    <a:pt x="3636391" y="0"/>
                    <a:pt x="3725291" y="88900"/>
                    <a:pt x="3725291" y="198628"/>
                  </a:cubicBezTo>
                  <a:lnTo>
                    <a:pt x="3725291" y="7915783"/>
                  </a:lnTo>
                  <a:cubicBezTo>
                    <a:pt x="3725291" y="8025511"/>
                    <a:pt x="3636391" y="8114411"/>
                    <a:pt x="3526663" y="8114411"/>
                  </a:cubicBezTo>
                  <a:lnTo>
                    <a:pt x="198628" y="8114411"/>
                  </a:lnTo>
                  <a:cubicBezTo>
                    <a:pt x="88900" y="8114411"/>
                    <a:pt x="0" y="8025511"/>
                    <a:pt x="0" y="7915783"/>
                  </a:cubicBezTo>
                  <a:close/>
                </a:path>
              </a:pathLst>
            </a:custGeom>
            <a:solidFill>
              <a:srgbClr val="DFF0E1"/>
            </a:solidFill>
            <a:ln w="50800" cap="sq">
              <a:solidFill>
                <a:srgbClr val="2E7D32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8314268" y="3351803"/>
            <a:ext cx="2468880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62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SDK Supabase / API REST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5B6579"/>
                </a:solidFill>
                <a:latin typeface="Calibri (MS)"/>
                <a:ea typeface="Calibri (MS)"/>
                <a:cs typeface="Calibri (MS)"/>
                <a:sym typeface="Calibri (MS)"/>
              </a:rPr>
              <a:t>Móvil: sincroniza al detectar red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5B6579"/>
                </a:solidFill>
                <a:latin typeface="Calibri (MS)"/>
                <a:ea typeface="Calibri (MS)"/>
                <a:cs typeface="Calibri (MS)"/>
                <a:sym typeface="Calibri (MS)"/>
              </a:rPr>
              <a:t>Web: lectura/escritura en tiempo real</a:t>
            </a:r>
          </a:p>
        </p:txBody>
      </p:sp>
      <p:sp>
        <p:nvSpPr>
          <p:cNvPr name="AutoShape 41" id="41"/>
          <p:cNvSpPr/>
          <p:nvPr/>
        </p:nvSpPr>
        <p:spPr>
          <a:xfrm>
            <a:off x="10885768" y="6107703"/>
            <a:ext cx="599441" cy="50800"/>
          </a:xfrm>
          <a:prstGeom prst="line">
            <a:avLst/>
          </a:prstGeom>
          <a:ln cap="rnd" w="19050">
            <a:solidFill>
              <a:srgbClr val="1621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11434401" y="3090180"/>
            <a:ext cx="3159757" cy="6085837"/>
            <a:chOff x="0" y="0"/>
            <a:chExt cx="4213009" cy="811444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12971" cy="8114411"/>
            </a:xfrm>
            <a:custGeom>
              <a:avLst/>
              <a:gdLst/>
              <a:ahLst/>
              <a:cxnLst/>
              <a:rect r="r" b="b" t="t" l="l"/>
              <a:pathLst>
                <a:path h="8114411" w="4212971">
                  <a:moveTo>
                    <a:pt x="0" y="198247"/>
                  </a:moveTo>
                  <a:cubicBezTo>
                    <a:pt x="0" y="88773"/>
                    <a:pt x="88773" y="0"/>
                    <a:pt x="198247" y="0"/>
                  </a:cubicBezTo>
                  <a:lnTo>
                    <a:pt x="4014724" y="0"/>
                  </a:lnTo>
                  <a:cubicBezTo>
                    <a:pt x="4124198" y="0"/>
                    <a:pt x="4212971" y="88773"/>
                    <a:pt x="4212971" y="198247"/>
                  </a:cubicBezTo>
                  <a:lnTo>
                    <a:pt x="4212971" y="7916164"/>
                  </a:lnTo>
                  <a:cubicBezTo>
                    <a:pt x="4212971" y="8025638"/>
                    <a:pt x="4124198" y="8114411"/>
                    <a:pt x="4014724" y="8114411"/>
                  </a:cubicBezTo>
                  <a:lnTo>
                    <a:pt x="198247" y="8114411"/>
                  </a:lnTo>
                  <a:cubicBezTo>
                    <a:pt x="88773" y="8114411"/>
                    <a:pt x="0" y="8025638"/>
                    <a:pt x="0" y="7916164"/>
                  </a:cubicBezTo>
                  <a:close/>
                </a:path>
              </a:pathLst>
            </a:custGeom>
            <a:solidFill>
              <a:srgbClr val="DFF0E1"/>
            </a:solidFill>
            <a:ln w="50800" cap="sq">
              <a:solidFill>
                <a:srgbClr val="2E7D32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1606108" y="3351803"/>
            <a:ext cx="283464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62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(BaaS)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5B6579"/>
                </a:solidFill>
                <a:latin typeface="Calibri (MS)"/>
                <a:ea typeface="Calibri (MS)"/>
                <a:cs typeface="Calibri (MS)"/>
                <a:sym typeface="Calibri (MS)"/>
              </a:rPr>
              <a:t>Autenticación · RLS · Storage de imágenes</a:t>
            </a:r>
          </a:p>
        </p:txBody>
      </p:sp>
      <p:sp>
        <p:nvSpPr>
          <p:cNvPr name="AutoShape 45" id="45"/>
          <p:cNvSpPr/>
          <p:nvPr/>
        </p:nvSpPr>
        <p:spPr>
          <a:xfrm>
            <a:off x="14543368" y="6107703"/>
            <a:ext cx="599441" cy="50800"/>
          </a:xfrm>
          <a:prstGeom prst="line">
            <a:avLst/>
          </a:prstGeom>
          <a:ln cap="rnd" w="19050">
            <a:solidFill>
              <a:srgbClr val="1621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6" id="46"/>
          <p:cNvGrpSpPr/>
          <p:nvPr/>
        </p:nvGrpSpPr>
        <p:grpSpPr>
          <a:xfrm rot="0">
            <a:off x="15092001" y="3090180"/>
            <a:ext cx="2428237" cy="6085837"/>
            <a:chOff x="0" y="0"/>
            <a:chExt cx="3237649" cy="811444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7611" cy="8114411"/>
            </a:xfrm>
            <a:custGeom>
              <a:avLst/>
              <a:gdLst/>
              <a:ahLst/>
              <a:cxnLst/>
              <a:rect r="r" b="b" t="t" l="l"/>
              <a:pathLst>
                <a:path h="8114411" w="3237611">
                  <a:moveTo>
                    <a:pt x="0" y="199263"/>
                  </a:moveTo>
                  <a:cubicBezTo>
                    <a:pt x="0" y="89154"/>
                    <a:pt x="89154" y="0"/>
                    <a:pt x="199263" y="0"/>
                  </a:cubicBezTo>
                  <a:lnTo>
                    <a:pt x="3038348" y="0"/>
                  </a:lnTo>
                  <a:cubicBezTo>
                    <a:pt x="3148330" y="0"/>
                    <a:pt x="3237611" y="89154"/>
                    <a:pt x="3237611" y="199263"/>
                  </a:cubicBezTo>
                  <a:lnTo>
                    <a:pt x="3237611" y="7915148"/>
                  </a:lnTo>
                  <a:cubicBezTo>
                    <a:pt x="3237611" y="8025130"/>
                    <a:pt x="3148457" y="8114411"/>
                    <a:pt x="3038348" y="8114411"/>
                  </a:cubicBezTo>
                  <a:lnTo>
                    <a:pt x="199263" y="8114411"/>
                  </a:lnTo>
                  <a:cubicBezTo>
                    <a:pt x="89154" y="8114411"/>
                    <a:pt x="0" y="8025257"/>
                    <a:pt x="0" y="7915148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16213A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5208844" y="3351803"/>
            <a:ext cx="2194560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62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5B6579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 central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5B6579"/>
                </a:solidFill>
                <a:latin typeface="Calibri (MS)"/>
                <a:ea typeface="Calibri (MS)"/>
                <a:cs typeface="Calibri (MS)"/>
                <a:sym typeface="Calibri (MS)"/>
              </a:rPr>
              <a:t> (consolida los datos tras sincronizar)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2764" y="9459233"/>
            <a:ext cx="164592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16213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Flujo: Usuario → Frontend → API → Backend → Base de datos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786891" y="431251"/>
            <a:ext cx="2720107" cy="668693"/>
          </a:xfrm>
          <a:custGeom>
            <a:avLst/>
            <a:gdLst/>
            <a:ahLst/>
            <a:cxnLst/>
            <a:rect r="r" b="b" t="t" l="l"/>
            <a:pathLst>
              <a:path h="668693" w="2720107">
                <a:moveTo>
                  <a:pt x="0" y="0"/>
                </a:moveTo>
                <a:lnTo>
                  <a:pt x="2720107" y="0"/>
                </a:lnTo>
                <a:lnTo>
                  <a:pt x="2720107" y="668693"/>
                </a:lnTo>
                <a:lnTo>
                  <a:pt x="0" y="6686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0A1C8">
                <a:alpha val="37500"/>
              </a:srgbClr>
            </a:gs>
            <a:gs pos="100000">
              <a:srgbClr val="DFFAFF">
                <a:alpha val="135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00375" y="-4069403"/>
            <a:ext cx="9726693" cy="8024522"/>
          </a:xfrm>
          <a:custGeom>
            <a:avLst/>
            <a:gdLst/>
            <a:ahLst/>
            <a:cxnLst/>
            <a:rect r="r" b="b" t="t" l="l"/>
            <a:pathLst>
              <a:path h="8024522" w="9726693">
                <a:moveTo>
                  <a:pt x="0" y="0"/>
                </a:moveTo>
                <a:lnTo>
                  <a:pt x="9726693" y="0"/>
                </a:lnTo>
                <a:lnTo>
                  <a:pt x="9726693" y="8024522"/>
                </a:lnTo>
                <a:lnTo>
                  <a:pt x="0" y="8024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4186" y="4402794"/>
            <a:ext cx="14031142" cy="4989774"/>
            <a:chOff x="0" y="0"/>
            <a:chExt cx="3695445" cy="13141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95445" cy="1314179"/>
            </a:xfrm>
            <a:custGeom>
              <a:avLst/>
              <a:gdLst/>
              <a:ahLst/>
              <a:cxnLst/>
              <a:rect r="r" b="b" t="t" l="l"/>
              <a:pathLst>
                <a:path h="1314179" w="3695445">
                  <a:moveTo>
                    <a:pt x="22071" y="0"/>
                  </a:moveTo>
                  <a:lnTo>
                    <a:pt x="3673374" y="0"/>
                  </a:lnTo>
                  <a:cubicBezTo>
                    <a:pt x="3679228" y="0"/>
                    <a:pt x="3684842" y="2325"/>
                    <a:pt x="3688981" y="6464"/>
                  </a:cubicBezTo>
                  <a:cubicBezTo>
                    <a:pt x="3693120" y="10603"/>
                    <a:pt x="3695445" y="16217"/>
                    <a:pt x="3695445" y="22071"/>
                  </a:cubicBezTo>
                  <a:lnTo>
                    <a:pt x="3695445" y="1292109"/>
                  </a:lnTo>
                  <a:cubicBezTo>
                    <a:pt x="3695445" y="1297962"/>
                    <a:pt x="3693120" y="1303576"/>
                    <a:pt x="3688981" y="1307715"/>
                  </a:cubicBezTo>
                  <a:cubicBezTo>
                    <a:pt x="3684842" y="1311854"/>
                    <a:pt x="3679228" y="1314179"/>
                    <a:pt x="3673374" y="1314179"/>
                  </a:cubicBezTo>
                  <a:lnTo>
                    <a:pt x="22071" y="1314179"/>
                  </a:lnTo>
                  <a:cubicBezTo>
                    <a:pt x="16217" y="1314179"/>
                    <a:pt x="10603" y="1311854"/>
                    <a:pt x="6464" y="1307715"/>
                  </a:cubicBezTo>
                  <a:cubicBezTo>
                    <a:pt x="2325" y="1303576"/>
                    <a:pt x="0" y="1297962"/>
                    <a:pt x="0" y="1292109"/>
                  </a:cubicBezTo>
                  <a:lnTo>
                    <a:pt x="0" y="22071"/>
                  </a:lnTo>
                  <a:cubicBezTo>
                    <a:pt x="0" y="16217"/>
                    <a:pt x="2325" y="10603"/>
                    <a:pt x="6464" y="6464"/>
                  </a:cubicBezTo>
                  <a:cubicBezTo>
                    <a:pt x="10603" y="2325"/>
                    <a:pt x="16217" y="0"/>
                    <a:pt x="2207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695445" cy="1361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1550370"/>
            <a:ext cx="16230600" cy="1954807"/>
            <a:chOff x="0" y="0"/>
            <a:chExt cx="4274726" cy="5148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514846"/>
            </a:xfrm>
            <a:custGeom>
              <a:avLst/>
              <a:gdLst/>
              <a:ahLst/>
              <a:cxnLst/>
              <a:rect r="r" b="b" t="t" l="l"/>
              <a:pathLst>
                <a:path h="514846" w="4274726">
                  <a:moveTo>
                    <a:pt x="19080" y="0"/>
                  </a:moveTo>
                  <a:lnTo>
                    <a:pt x="4255646" y="0"/>
                  </a:lnTo>
                  <a:cubicBezTo>
                    <a:pt x="4266183" y="0"/>
                    <a:pt x="4274726" y="8542"/>
                    <a:pt x="4274726" y="19080"/>
                  </a:cubicBezTo>
                  <a:lnTo>
                    <a:pt x="4274726" y="495767"/>
                  </a:lnTo>
                  <a:cubicBezTo>
                    <a:pt x="4274726" y="506304"/>
                    <a:pt x="4266183" y="514846"/>
                    <a:pt x="4255646" y="514846"/>
                  </a:cubicBezTo>
                  <a:lnTo>
                    <a:pt x="19080" y="514846"/>
                  </a:lnTo>
                  <a:cubicBezTo>
                    <a:pt x="8542" y="514846"/>
                    <a:pt x="0" y="506304"/>
                    <a:pt x="0" y="495767"/>
                  </a:cubicBezTo>
                  <a:lnTo>
                    <a:pt x="0" y="19080"/>
                  </a:lnTo>
                  <a:cubicBezTo>
                    <a:pt x="0" y="8542"/>
                    <a:pt x="8542" y="0"/>
                    <a:pt x="190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74726" cy="562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318442" y="5239816"/>
            <a:ext cx="685800" cy="685800"/>
          </a:xfrm>
          <a:custGeom>
            <a:avLst/>
            <a:gdLst/>
            <a:ahLst/>
            <a:cxnLst/>
            <a:rect r="r" b="b" t="t" l="l"/>
            <a:pathLst>
              <a:path h="685800" w="68580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43000" y="5306830"/>
            <a:ext cx="685800" cy="582930"/>
          </a:xfrm>
          <a:custGeom>
            <a:avLst/>
            <a:gdLst/>
            <a:ahLst/>
            <a:cxnLst/>
            <a:rect r="r" b="b" t="t" l="l"/>
            <a:pathLst>
              <a:path h="582930" w="685800">
                <a:moveTo>
                  <a:pt x="0" y="0"/>
                </a:moveTo>
                <a:lnTo>
                  <a:pt x="685800" y="0"/>
                </a:lnTo>
                <a:lnTo>
                  <a:pt x="685800" y="582930"/>
                </a:lnTo>
                <a:lnTo>
                  <a:pt x="0" y="582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07270" y="5306830"/>
            <a:ext cx="732105" cy="673537"/>
          </a:xfrm>
          <a:custGeom>
            <a:avLst/>
            <a:gdLst/>
            <a:ahLst/>
            <a:cxnLst/>
            <a:rect r="r" b="b" t="t" l="l"/>
            <a:pathLst>
              <a:path h="673537" w="732105">
                <a:moveTo>
                  <a:pt x="0" y="0"/>
                </a:moveTo>
                <a:lnTo>
                  <a:pt x="732105" y="0"/>
                </a:lnTo>
                <a:lnTo>
                  <a:pt x="732105" y="673536"/>
                </a:lnTo>
                <a:lnTo>
                  <a:pt x="0" y="673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709785" y="6509700"/>
            <a:ext cx="4835543" cy="240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El MVP se desarrolla de forma iterativa e incremental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Somos un equipo de dos desarrolladores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Pe</a:t>
            </a:r>
            <a:r>
              <a:rPr lang="en-US" b="true" sz="1999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rmite adaptarse a cambios del cliente sin romper el flujo de trabajo</a:t>
            </a:r>
          </a:p>
          <a:p>
            <a:pPr algn="l" marL="0" indent="0" lvl="0">
              <a:lnSpc>
                <a:spcPts val="2439"/>
              </a:lnSpc>
            </a:pPr>
          </a:p>
        </p:txBody>
      </p:sp>
      <p:sp>
        <p:nvSpPr>
          <p:cNvPr name="AutoShape 13" id="13"/>
          <p:cNvSpPr/>
          <p:nvPr/>
        </p:nvSpPr>
        <p:spPr>
          <a:xfrm flipH="true">
            <a:off x="4522059" y="5330271"/>
            <a:ext cx="0" cy="36962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9709785" y="5306830"/>
            <a:ext cx="0" cy="36962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86891" y="431251"/>
            <a:ext cx="2720107" cy="668693"/>
          </a:xfrm>
          <a:custGeom>
            <a:avLst/>
            <a:gdLst/>
            <a:ahLst/>
            <a:cxnLst/>
            <a:rect r="r" b="b" t="t" l="l"/>
            <a:pathLst>
              <a:path h="668693" w="2720107">
                <a:moveTo>
                  <a:pt x="0" y="0"/>
                </a:moveTo>
                <a:lnTo>
                  <a:pt x="2720107" y="0"/>
                </a:lnTo>
                <a:lnTo>
                  <a:pt x="2720107" y="668693"/>
                </a:lnTo>
                <a:lnTo>
                  <a:pt x="0" y="6686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812028" y="5202626"/>
            <a:ext cx="3324395" cy="3390110"/>
          </a:xfrm>
          <a:custGeom>
            <a:avLst/>
            <a:gdLst/>
            <a:ahLst/>
            <a:cxnLst/>
            <a:rect r="r" b="b" t="t" l="l"/>
            <a:pathLst>
              <a:path h="3390110" w="3324395">
                <a:moveTo>
                  <a:pt x="0" y="0"/>
                </a:moveTo>
                <a:lnTo>
                  <a:pt x="3324395" y="0"/>
                </a:lnTo>
                <a:lnTo>
                  <a:pt x="3324395" y="3390110"/>
                </a:lnTo>
                <a:lnTo>
                  <a:pt x="0" y="3390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07270" y="6008369"/>
            <a:ext cx="428651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9"/>
              </a:lnSpc>
            </a:pPr>
            <a:r>
              <a:rPr lang="en-US" b="true" sz="2699">
                <a:solidFill>
                  <a:srgbClr val="1E1E1C"/>
                </a:solidFill>
                <a:latin typeface="Inter Medium"/>
                <a:ea typeface="Inter Medium"/>
                <a:cs typeface="Inter Medium"/>
                <a:sym typeface="Inter Medium"/>
              </a:rPr>
              <a:t>Cómo la aplicaremos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55306" y="6032182"/>
            <a:ext cx="3200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b="true" sz="2400">
                <a:solidFill>
                  <a:srgbClr val="1E1E1C"/>
                </a:solidFill>
                <a:latin typeface="Inter Medium"/>
                <a:ea typeface="Inter Medium"/>
                <a:cs typeface="Inter Medium"/>
                <a:sym typeface="Inter Medium"/>
              </a:rPr>
              <a:t>Por qué la elegimos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000" y="6008369"/>
            <a:ext cx="252662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9"/>
              </a:lnSpc>
            </a:pPr>
            <a:r>
              <a:rPr lang="en-US" b="true" sz="2699">
                <a:solidFill>
                  <a:srgbClr val="1E1E1C"/>
                </a:solidFill>
                <a:latin typeface="Inter Medium"/>
                <a:ea typeface="Inter Medium"/>
                <a:cs typeface="Inter Medium"/>
                <a:sym typeface="Inter Medium"/>
              </a:rPr>
              <a:t>Cómo funciona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53148" y="2143281"/>
            <a:ext cx="11354285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79"/>
              </a:lnSpc>
            </a:pPr>
            <a:r>
              <a:rPr lang="en-US" b="true" sz="5799" spc="-92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Metodología de trabajo: Scrum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01554" y="6509700"/>
            <a:ext cx="5028736" cy="1742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110" indent="-215555" lvl="1">
              <a:lnSpc>
                <a:spcPts val="2795"/>
              </a:lnSpc>
              <a:buFont typeface="Arial"/>
              <a:buChar char="•"/>
            </a:pPr>
            <a:r>
              <a:rPr lang="en-US" b="true" sz="199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18 semanas con sprints quincenales</a:t>
            </a:r>
          </a:p>
          <a:p>
            <a:pPr algn="l" marL="431110" indent="-215555" lvl="1">
              <a:lnSpc>
                <a:spcPts val="2795"/>
              </a:lnSpc>
              <a:buFont typeface="Arial"/>
              <a:buChar char="•"/>
            </a:pPr>
            <a:r>
              <a:rPr lang="en-US" b="true" sz="199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Tablero Kanban en GitHub Projects</a:t>
            </a:r>
          </a:p>
          <a:p>
            <a:pPr algn="l" marL="431110" indent="-215555" lvl="1">
              <a:lnSpc>
                <a:spcPts val="2795"/>
              </a:lnSpc>
              <a:buFont typeface="Arial"/>
              <a:buChar char="•"/>
            </a:pPr>
            <a:r>
              <a:rPr lang="en-US" b="true" sz="199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Sprint Review al cierre de cada sprint</a:t>
            </a:r>
          </a:p>
          <a:p>
            <a:pPr algn="l">
              <a:lnSpc>
                <a:spcPts val="2795"/>
              </a:lnSpc>
            </a:pPr>
          </a:p>
          <a:p>
            <a:pPr algn="l" marL="0" indent="0" lvl="0">
              <a:lnSpc>
                <a:spcPts val="2795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92801" y="6449287"/>
            <a:ext cx="3734008" cy="2709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0947" indent="-215474" lvl="1">
              <a:lnSpc>
                <a:spcPts val="2794"/>
              </a:lnSpc>
              <a:buFont typeface="Arial"/>
              <a:buChar char="•"/>
            </a:pPr>
            <a:r>
              <a:rPr lang="en-US" b="true" sz="199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Marco ágil iterativo e incremental</a:t>
            </a:r>
          </a:p>
          <a:p>
            <a:pPr algn="l" marL="430947" indent="-215474" lvl="1">
              <a:lnSpc>
                <a:spcPts val="2794"/>
              </a:lnSpc>
              <a:buFont typeface="Arial"/>
              <a:buChar char="•"/>
            </a:pPr>
            <a:r>
              <a:rPr lang="en-US" b="true" sz="199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El trabajo se divide en sprints</a:t>
            </a:r>
          </a:p>
          <a:p>
            <a:pPr algn="l" marL="430947" indent="-215474" lvl="1">
              <a:lnSpc>
                <a:spcPts val="2794"/>
              </a:lnSpc>
              <a:buFont typeface="Arial"/>
              <a:buChar char="•"/>
            </a:pPr>
            <a:r>
              <a:rPr lang="en-US" b="true" sz="199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Cada sprint termina en un entregable funcional</a:t>
            </a:r>
            <a:r>
              <a:rPr lang="en-US" b="true" sz="1996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 que se revisa</a:t>
            </a:r>
          </a:p>
          <a:p>
            <a:pPr algn="l" marL="0" indent="0" lvl="0">
              <a:lnSpc>
                <a:spcPts val="198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0A1C8">
                <a:alpha val="37500"/>
              </a:srgbClr>
            </a:gs>
            <a:gs pos="100000">
              <a:srgbClr val="DFFAFF">
                <a:alpha val="135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46001" y="-903997"/>
            <a:ext cx="6741999" cy="9331487"/>
          </a:xfrm>
          <a:custGeom>
            <a:avLst/>
            <a:gdLst/>
            <a:ahLst/>
            <a:cxnLst/>
            <a:rect r="r" b="b" t="t" l="l"/>
            <a:pathLst>
              <a:path h="9331487" w="6741999">
                <a:moveTo>
                  <a:pt x="0" y="0"/>
                </a:moveTo>
                <a:lnTo>
                  <a:pt x="6741999" y="0"/>
                </a:lnTo>
                <a:lnTo>
                  <a:pt x="6741999" y="9331487"/>
                </a:lnTo>
                <a:lnTo>
                  <a:pt x="0" y="93314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01703" y="4245666"/>
            <a:ext cx="16776697" cy="4989774"/>
            <a:chOff x="0" y="0"/>
            <a:chExt cx="4418554" cy="13141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8554" cy="1314179"/>
            </a:xfrm>
            <a:custGeom>
              <a:avLst/>
              <a:gdLst/>
              <a:ahLst/>
              <a:cxnLst/>
              <a:rect r="r" b="b" t="t" l="l"/>
              <a:pathLst>
                <a:path h="1314179" w="4418554">
                  <a:moveTo>
                    <a:pt x="18459" y="0"/>
                  </a:moveTo>
                  <a:lnTo>
                    <a:pt x="4400095" y="0"/>
                  </a:lnTo>
                  <a:cubicBezTo>
                    <a:pt x="4410290" y="0"/>
                    <a:pt x="4418554" y="8264"/>
                    <a:pt x="4418554" y="18459"/>
                  </a:cubicBezTo>
                  <a:lnTo>
                    <a:pt x="4418554" y="1295720"/>
                  </a:lnTo>
                  <a:cubicBezTo>
                    <a:pt x="4418554" y="1305915"/>
                    <a:pt x="4410290" y="1314179"/>
                    <a:pt x="4400095" y="1314179"/>
                  </a:cubicBezTo>
                  <a:lnTo>
                    <a:pt x="18459" y="1314179"/>
                  </a:lnTo>
                  <a:cubicBezTo>
                    <a:pt x="8264" y="1314179"/>
                    <a:pt x="0" y="1305915"/>
                    <a:pt x="0" y="1295720"/>
                  </a:cubicBezTo>
                  <a:lnTo>
                    <a:pt x="0" y="18459"/>
                  </a:lnTo>
                  <a:cubicBezTo>
                    <a:pt x="0" y="8264"/>
                    <a:pt x="8264" y="0"/>
                    <a:pt x="1845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18554" cy="13618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1703" y="2364743"/>
            <a:ext cx="1671323" cy="1397003"/>
            <a:chOff x="0" y="0"/>
            <a:chExt cx="2228431" cy="18626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5DAE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1645920" cy="1371600"/>
            <a:chOff x="0" y="0"/>
            <a:chExt cx="219456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B65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30503" y="2364743"/>
            <a:ext cx="1671323" cy="1397003"/>
            <a:chOff x="0" y="0"/>
            <a:chExt cx="2228431" cy="1862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DFDF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713358" y="2377440"/>
            <a:ext cx="1645920" cy="1371600"/>
            <a:chOff x="0" y="0"/>
            <a:chExt cx="219456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b="true" sz="4400">
                  <a:solidFill>
                    <a:srgbClr val="1E1E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59303" y="2364743"/>
            <a:ext cx="1671323" cy="1397003"/>
            <a:chOff x="0" y="0"/>
            <a:chExt cx="2228431" cy="1862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w="25400" cap="sq">
              <a:solidFill>
                <a:srgbClr val="1E1E1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559303" y="2377445"/>
            <a:ext cx="1645920" cy="1371600"/>
            <a:chOff x="0" y="0"/>
            <a:chExt cx="219456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162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88103" y="2364743"/>
            <a:ext cx="1671323" cy="1397003"/>
            <a:chOff x="0" y="0"/>
            <a:chExt cx="2228431" cy="186267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5DAE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0" y="2377440"/>
            <a:ext cx="1645920" cy="1371600"/>
            <a:chOff x="0" y="0"/>
            <a:chExt cx="219456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B65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16903" y="2364743"/>
            <a:ext cx="1671323" cy="1397003"/>
            <a:chOff x="0" y="0"/>
            <a:chExt cx="2228431" cy="18626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5DAE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0" y="2377440"/>
            <a:ext cx="1645920" cy="1371600"/>
            <a:chOff x="0" y="0"/>
            <a:chExt cx="219456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B65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045703" y="2364743"/>
            <a:ext cx="1671323" cy="1397003"/>
            <a:chOff x="0" y="0"/>
            <a:chExt cx="2228431" cy="18626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5DAE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058400" y="2377440"/>
            <a:ext cx="1645920" cy="1371600"/>
            <a:chOff x="0" y="0"/>
            <a:chExt cx="2194560" cy="182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B65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874503" y="2364743"/>
            <a:ext cx="1671323" cy="1397003"/>
            <a:chOff x="0" y="0"/>
            <a:chExt cx="2228431" cy="18626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DFF0E1"/>
            </a:solidFill>
            <a:ln w="25400" cap="sq">
              <a:solidFill>
                <a:srgbClr val="2E7D3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5" y="2390146"/>
            <a:ext cx="1645920" cy="1371600"/>
            <a:chOff x="0" y="0"/>
            <a:chExt cx="219456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b="true" sz="4400">
                  <a:solidFill>
                    <a:srgbClr val="1E1E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03303" y="2364743"/>
            <a:ext cx="1671323" cy="1397003"/>
            <a:chOff x="0" y="0"/>
            <a:chExt cx="2228431" cy="18626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5DAE5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716000" y="2377440"/>
            <a:ext cx="1645920" cy="1371600"/>
            <a:chOff x="0" y="0"/>
            <a:chExt cx="219456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B65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532103" y="2364743"/>
            <a:ext cx="1671323" cy="1397003"/>
            <a:chOff x="0" y="0"/>
            <a:chExt cx="2228431" cy="18626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283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22834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029714" y="0"/>
                  </a:lnTo>
                  <a:cubicBezTo>
                    <a:pt x="2139442" y="0"/>
                    <a:pt x="2228342" y="88900"/>
                    <a:pt x="2228342" y="198628"/>
                  </a:cubicBezTo>
                  <a:lnTo>
                    <a:pt x="2228342" y="1663954"/>
                  </a:lnTo>
                  <a:cubicBezTo>
                    <a:pt x="2228342" y="1773682"/>
                    <a:pt x="2139442" y="1862582"/>
                    <a:pt x="202971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5DAE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544800" y="2377440"/>
            <a:ext cx="1645920" cy="1371600"/>
            <a:chOff x="0" y="0"/>
            <a:chExt cx="2194560" cy="1828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919" t="0" r="-56919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219456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5B65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88226" y="770442"/>
            <a:ext cx="7315200" cy="1327577"/>
            <a:chOff x="0" y="0"/>
            <a:chExt cx="1926637" cy="3496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26637" cy="349650"/>
            </a:xfrm>
            <a:custGeom>
              <a:avLst/>
              <a:gdLst/>
              <a:ahLst/>
              <a:cxnLst/>
              <a:rect r="r" b="b" t="t" l="l"/>
              <a:pathLst>
                <a:path h="349650" w="1926637">
                  <a:moveTo>
                    <a:pt x="42333" y="0"/>
                  </a:moveTo>
                  <a:lnTo>
                    <a:pt x="1884304" y="0"/>
                  </a:lnTo>
                  <a:cubicBezTo>
                    <a:pt x="1907684" y="0"/>
                    <a:pt x="1926637" y="18953"/>
                    <a:pt x="1926637" y="42333"/>
                  </a:cubicBezTo>
                  <a:lnTo>
                    <a:pt x="1926637" y="307317"/>
                  </a:lnTo>
                  <a:cubicBezTo>
                    <a:pt x="1926637" y="318544"/>
                    <a:pt x="1922177" y="329312"/>
                    <a:pt x="1914238" y="337251"/>
                  </a:cubicBezTo>
                  <a:cubicBezTo>
                    <a:pt x="1906299" y="345190"/>
                    <a:pt x="1895531" y="349650"/>
                    <a:pt x="1884304" y="349650"/>
                  </a:cubicBezTo>
                  <a:lnTo>
                    <a:pt x="42333" y="349650"/>
                  </a:lnTo>
                  <a:cubicBezTo>
                    <a:pt x="31106" y="349650"/>
                    <a:pt x="20338" y="345190"/>
                    <a:pt x="12399" y="337251"/>
                  </a:cubicBezTo>
                  <a:cubicBezTo>
                    <a:pt x="4460" y="329312"/>
                    <a:pt x="0" y="318544"/>
                    <a:pt x="0" y="30731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926637" cy="397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20240" y="4535424"/>
            <a:ext cx="6766560" cy="605098"/>
            <a:chOff x="0" y="0"/>
            <a:chExt cx="9022080" cy="80679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022080" cy="806797"/>
            </a:xfrm>
            <a:custGeom>
              <a:avLst/>
              <a:gdLst/>
              <a:ahLst/>
              <a:cxnLst/>
              <a:rect r="r" b="b" t="t" l="l"/>
              <a:pathLst>
                <a:path h="806797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580" r="0" b="-1602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902208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62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Nivel actual: TRL 3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80160" y="5356860"/>
            <a:ext cx="5530863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TRL 3: existe una prueba de concepto experimental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Aún no se valida en un entorno operacional real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588250" y="4535424"/>
            <a:ext cx="464315" cy="464315"/>
            <a:chOff x="0" y="0"/>
            <a:chExt cx="619087" cy="61908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19125" cy="619125"/>
            </a:xfrm>
            <a:custGeom>
              <a:avLst/>
              <a:gdLst/>
              <a:ahLst/>
              <a:cxnLst/>
              <a:rect r="r" b="b" t="t" l="l"/>
              <a:pathLst>
                <a:path h="619125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cubicBezTo>
                    <a:pt x="480441" y="0"/>
                    <a:pt x="619125" y="138557"/>
                    <a:pt x="619125" y="309499"/>
                  </a:cubicBezTo>
                  <a:cubicBezTo>
                    <a:pt x="619125" y="480441"/>
                    <a:pt x="480441" y="619125"/>
                    <a:pt x="309499" y="619125"/>
                  </a:cubicBezTo>
                  <a:cubicBezTo>
                    <a:pt x="138557" y="619125"/>
                    <a:pt x="0" y="480441"/>
                    <a:pt x="0" y="309499"/>
                  </a:cubicBezTo>
                  <a:close/>
                </a:path>
              </a:pathLst>
            </a:custGeom>
            <a:solidFill>
              <a:srgbClr val="DFF0E1"/>
            </a:solidFill>
            <a:ln w="25400" cap="sq">
              <a:solidFill>
                <a:srgbClr val="2E7D32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243065" y="4522727"/>
            <a:ext cx="6766560" cy="512064"/>
            <a:chOff x="0" y="0"/>
            <a:chExt cx="9022080" cy="68275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22080" cy="682752"/>
            </a:xfrm>
            <a:custGeom>
              <a:avLst/>
              <a:gdLst/>
              <a:ahLst/>
              <a:cxnLst/>
              <a:rect r="r" b="b" t="t" l="l"/>
              <a:pathLst>
                <a:path h="682752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480" r="0" b="-20748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902208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621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Meta al finalizar: TRL 7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8229605" y="5571363"/>
            <a:ext cx="7315200" cy="406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Se evita quedarse en pruebas de laboratorio o simuladas (TRL 4–5)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Marcha blanca real: los técnicos de Alejandra Producciones operan la app offline-first en eventos masivos, escaneando los QR físicos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16213A"/>
                </a:solidFill>
                <a:latin typeface="Calibri (MS)"/>
                <a:ea typeface="Calibri (MS)"/>
                <a:cs typeface="Calibri (MS)"/>
                <a:sym typeface="Calibri (MS)"/>
              </a:rPr>
              <a:t>La jefatura monitorea los datos sincronizados desde el panel en la nube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65425" y="4522727"/>
            <a:ext cx="464315" cy="464315"/>
            <a:chOff x="0" y="0"/>
            <a:chExt cx="619087" cy="61908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19125" cy="619125"/>
            </a:xfrm>
            <a:custGeom>
              <a:avLst/>
              <a:gdLst/>
              <a:ahLst/>
              <a:cxnLst/>
              <a:rect r="r" b="b" t="t" l="l"/>
              <a:pathLst>
                <a:path h="619125" w="619125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cubicBezTo>
                    <a:pt x="480441" y="0"/>
                    <a:pt x="619125" y="138557"/>
                    <a:pt x="619125" y="309499"/>
                  </a:cubicBezTo>
                  <a:cubicBezTo>
                    <a:pt x="619125" y="480441"/>
                    <a:pt x="480441" y="619125"/>
                    <a:pt x="309499" y="619125"/>
                  </a:cubicBezTo>
                  <a:cubicBezTo>
                    <a:pt x="138557" y="619125"/>
                    <a:pt x="0" y="480441"/>
                    <a:pt x="0" y="309499"/>
                  </a:cubicBezTo>
                  <a:close/>
                </a:path>
              </a:pathLst>
            </a:custGeom>
            <a:solidFill>
              <a:srgbClr val="DCE9FB"/>
            </a:solidFill>
            <a:ln w="25400" cap="sq">
              <a:solidFill>
                <a:srgbClr val="1E1E1C"/>
              </a:solidFill>
              <a:prstDash val="solid"/>
              <a:miter/>
            </a:ln>
          </p:spPr>
        </p:sp>
      </p:grpSp>
      <p:sp>
        <p:nvSpPr>
          <p:cNvPr name="AutoShape 66" id="66"/>
          <p:cNvSpPr/>
          <p:nvPr/>
        </p:nvSpPr>
        <p:spPr>
          <a:xfrm>
            <a:off x="8078476" y="4813682"/>
            <a:ext cx="0" cy="369620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7" id="67"/>
          <p:cNvSpPr txBox="true"/>
          <p:nvPr/>
        </p:nvSpPr>
        <p:spPr>
          <a:xfrm rot="0">
            <a:off x="10646595" y="1097045"/>
            <a:ext cx="613881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10"/>
              </a:lnSpc>
            </a:pPr>
            <a:r>
              <a:rPr lang="en-US" b="true" sz="5100" spc="-81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TRL del proyecto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786891" y="431251"/>
            <a:ext cx="2720107" cy="668693"/>
          </a:xfrm>
          <a:custGeom>
            <a:avLst/>
            <a:gdLst/>
            <a:ahLst/>
            <a:cxnLst/>
            <a:rect r="r" b="b" t="t" l="l"/>
            <a:pathLst>
              <a:path h="668693" w="2720107">
                <a:moveTo>
                  <a:pt x="0" y="0"/>
                </a:moveTo>
                <a:lnTo>
                  <a:pt x="2720107" y="0"/>
                </a:lnTo>
                <a:lnTo>
                  <a:pt x="2720107" y="668693"/>
                </a:lnTo>
                <a:lnTo>
                  <a:pt x="0" y="6686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0A1C8">
                <a:alpha val="37500"/>
              </a:srgbClr>
            </a:gs>
            <a:gs pos="100000">
              <a:srgbClr val="DFFAFF">
                <a:alpha val="135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449331"/>
            <a:ext cx="8382000" cy="1923267"/>
            <a:chOff x="0" y="0"/>
            <a:chExt cx="2207605" cy="5065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7605" cy="506539"/>
            </a:xfrm>
            <a:custGeom>
              <a:avLst/>
              <a:gdLst/>
              <a:ahLst/>
              <a:cxnLst/>
              <a:rect r="r" b="b" t="t" l="l"/>
              <a:pathLst>
                <a:path h="506539" w="2207605">
                  <a:moveTo>
                    <a:pt x="36945" y="0"/>
                  </a:moveTo>
                  <a:lnTo>
                    <a:pt x="2170660" y="0"/>
                  </a:lnTo>
                  <a:cubicBezTo>
                    <a:pt x="2180458" y="0"/>
                    <a:pt x="2189855" y="3892"/>
                    <a:pt x="2196784" y="10821"/>
                  </a:cubicBezTo>
                  <a:cubicBezTo>
                    <a:pt x="2203713" y="17750"/>
                    <a:pt x="2207605" y="27147"/>
                    <a:pt x="2207605" y="36945"/>
                  </a:cubicBezTo>
                  <a:lnTo>
                    <a:pt x="2207605" y="469594"/>
                  </a:lnTo>
                  <a:cubicBezTo>
                    <a:pt x="2207605" y="489998"/>
                    <a:pt x="2191064" y="506539"/>
                    <a:pt x="2170660" y="506539"/>
                  </a:cubicBezTo>
                  <a:lnTo>
                    <a:pt x="36945" y="506539"/>
                  </a:lnTo>
                  <a:cubicBezTo>
                    <a:pt x="27147" y="506539"/>
                    <a:pt x="17750" y="502647"/>
                    <a:pt x="10821" y="495718"/>
                  </a:cubicBezTo>
                  <a:cubicBezTo>
                    <a:pt x="3892" y="488790"/>
                    <a:pt x="0" y="479392"/>
                    <a:pt x="0" y="469594"/>
                  </a:cubicBezTo>
                  <a:lnTo>
                    <a:pt x="0" y="36945"/>
                  </a:lnTo>
                  <a:cubicBezTo>
                    <a:pt x="0" y="16541"/>
                    <a:pt x="16541" y="0"/>
                    <a:pt x="3694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07605" cy="554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102605" y="3372598"/>
            <a:ext cx="7198605" cy="8020730"/>
          </a:xfrm>
          <a:custGeom>
            <a:avLst/>
            <a:gdLst/>
            <a:ahLst/>
            <a:cxnLst/>
            <a:rect r="r" b="b" t="t" l="l"/>
            <a:pathLst>
              <a:path h="8020730" w="7198605">
                <a:moveTo>
                  <a:pt x="0" y="0"/>
                </a:moveTo>
                <a:lnTo>
                  <a:pt x="7198605" y="0"/>
                </a:lnTo>
                <a:lnTo>
                  <a:pt x="7198605" y="8020729"/>
                </a:lnTo>
                <a:lnTo>
                  <a:pt x="0" y="8020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4491" y="1492886"/>
            <a:ext cx="8357109" cy="8184514"/>
            <a:chOff x="0" y="0"/>
            <a:chExt cx="2201049" cy="21555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1049" cy="2155592"/>
            </a:xfrm>
            <a:custGeom>
              <a:avLst/>
              <a:gdLst/>
              <a:ahLst/>
              <a:cxnLst/>
              <a:rect r="r" b="b" t="t" l="l"/>
              <a:pathLst>
                <a:path h="2155592" w="2201049">
                  <a:moveTo>
                    <a:pt x="37055" y="0"/>
                  </a:moveTo>
                  <a:lnTo>
                    <a:pt x="2163994" y="0"/>
                  </a:lnTo>
                  <a:cubicBezTo>
                    <a:pt x="2173821" y="0"/>
                    <a:pt x="2183247" y="3904"/>
                    <a:pt x="2190196" y="10853"/>
                  </a:cubicBezTo>
                  <a:cubicBezTo>
                    <a:pt x="2197145" y="17803"/>
                    <a:pt x="2201049" y="27228"/>
                    <a:pt x="2201049" y="37055"/>
                  </a:cubicBezTo>
                  <a:lnTo>
                    <a:pt x="2201049" y="2118537"/>
                  </a:lnTo>
                  <a:cubicBezTo>
                    <a:pt x="2201049" y="2128364"/>
                    <a:pt x="2197145" y="2137790"/>
                    <a:pt x="2190196" y="2144739"/>
                  </a:cubicBezTo>
                  <a:cubicBezTo>
                    <a:pt x="2183247" y="2151688"/>
                    <a:pt x="2173821" y="2155592"/>
                    <a:pt x="2163994" y="2155592"/>
                  </a:cubicBezTo>
                  <a:lnTo>
                    <a:pt x="37055" y="2155592"/>
                  </a:lnTo>
                  <a:cubicBezTo>
                    <a:pt x="27228" y="2155592"/>
                    <a:pt x="17803" y="2151688"/>
                    <a:pt x="10853" y="2144739"/>
                  </a:cubicBezTo>
                  <a:cubicBezTo>
                    <a:pt x="3904" y="2137790"/>
                    <a:pt x="0" y="2128364"/>
                    <a:pt x="0" y="2118537"/>
                  </a:cubicBezTo>
                  <a:lnTo>
                    <a:pt x="0" y="37055"/>
                  </a:lnTo>
                  <a:cubicBezTo>
                    <a:pt x="0" y="27228"/>
                    <a:pt x="3904" y="17803"/>
                    <a:pt x="10853" y="10853"/>
                  </a:cubicBezTo>
                  <a:cubicBezTo>
                    <a:pt x="17803" y="3904"/>
                    <a:pt x="27228" y="0"/>
                    <a:pt x="37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0BEE0">
                    <a:alpha val="100000"/>
                  </a:srgbClr>
                </a:gs>
                <a:gs pos="100000">
                  <a:srgbClr val="DDF8FE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01049" cy="2203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96400" y="3832352"/>
            <a:ext cx="8382000" cy="5845048"/>
            <a:chOff x="0" y="0"/>
            <a:chExt cx="2207605" cy="15394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7605" cy="1539437"/>
            </a:xfrm>
            <a:custGeom>
              <a:avLst/>
              <a:gdLst/>
              <a:ahLst/>
              <a:cxnLst/>
              <a:rect r="r" b="b" t="t" l="l"/>
              <a:pathLst>
                <a:path h="1539437" w="2207605">
                  <a:moveTo>
                    <a:pt x="36945" y="0"/>
                  </a:moveTo>
                  <a:lnTo>
                    <a:pt x="2170660" y="0"/>
                  </a:lnTo>
                  <a:cubicBezTo>
                    <a:pt x="2180458" y="0"/>
                    <a:pt x="2189855" y="3892"/>
                    <a:pt x="2196784" y="10821"/>
                  </a:cubicBezTo>
                  <a:cubicBezTo>
                    <a:pt x="2203713" y="17750"/>
                    <a:pt x="2207605" y="27147"/>
                    <a:pt x="2207605" y="36945"/>
                  </a:cubicBezTo>
                  <a:lnTo>
                    <a:pt x="2207605" y="1502491"/>
                  </a:lnTo>
                  <a:cubicBezTo>
                    <a:pt x="2207605" y="1522896"/>
                    <a:pt x="2191064" y="1539437"/>
                    <a:pt x="2170660" y="1539437"/>
                  </a:cubicBezTo>
                  <a:lnTo>
                    <a:pt x="36945" y="1539437"/>
                  </a:lnTo>
                  <a:cubicBezTo>
                    <a:pt x="16541" y="1539437"/>
                    <a:pt x="0" y="1522896"/>
                    <a:pt x="0" y="1502491"/>
                  </a:cubicBezTo>
                  <a:lnTo>
                    <a:pt x="0" y="36945"/>
                  </a:lnTo>
                  <a:cubicBezTo>
                    <a:pt x="0" y="16541"/>
                    <a:pt x="16541" y="0"/>
                    <a:pt x="3694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207605" cy="1587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Entendimos el problema. Alejandra Producciones hoy lleva registros manuales, sin trazabilidad de fallas, repuestos ni tiempos de inactividad.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La arquitectura responde a esa necesidad</a:t>
              </a:r>
            </a:p>
            <a:p>
              <a:pPr algn="l">
                <a:lnSpc>
                  <a:spcPts val="3359"/>
                </a:lnSpc>
              </a:pPr>
            </a:p>
            <a:p>
              <a:pPr algn="l" marL="518160" indent="-259080" lvl="1">
                <a:lnSpc>
                  <a:spcPts val="3359"/>
                </a:lnSpc>
                <a:buFont typeface="Arial"/>
                <a:buChar char="•"/>
              </a:pPr>
              <a:r>
                <a:rPr lang="en-US" b="true" sz="2400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Tenemos un plan claro para llegar a TRL 7. Hoy estamos en TRL 3 y avanzamos con Scrum en sprints quincenales, hasta una marcha blanca en un evento real.</a:t>
              </a: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1991797"/>
            <a:ext cx="7315631" cy="7152203"/>
            <a:chOff x="0" y="0"/>
            <a:chExt cx="1484192" cy="14510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4192" cy="1451035"/>
            </a:xfrm>
            <a:custGeom>
              <a:avLst/>
              <a:gdLst/>
              <a:ahLst/>
              <a:cxnLst/>
              <a:rect r="r" b="b" t="t" l="l"/>
              <a:pathLst>
                <a:path h="1451035" w="1484192">
                  <a:moveTo>
                    <a:pt x="33865" y="0"/>
                  </a:moveTo>
                  <a:lnTo>
                    <a:pt x="1450327" y="0"/>
                  </a:lnTo>
                  <a:cubicBezTo>
                    <a:pt x="1459309" y="0"/>
                    <a:pt x="1467922" y="3568"/>
                    <a:pt x="1474273" y="9919"/>
                  </a:cubicBezTo>
                  <a:cubicBezTo>
                    <a:pt x="1480624" y="16270"/>
                    <a:pt x="1484192" y="24883"/>
                    <a:pt x="1484192" y="33865"/>
                  </a:cubicBezTo>
                  <a:lnTo>
                    <a:pt x="1484192" y="1417171"/>
                  </a:lnTo>
                  <a:cubicBezTo>
                    <a:pt x="1484192" y="1426152"/>
                    <a:pt x="1480624" y="1434766"/>
                    <a:pt x="1474273" y="1441117"/>
                  </a:cubicBezTo>
                  <a:cubicBezTo>
                    <a:pt x="1467922" y="1447467"/>
                    <a:pt x="1459309" y="1451035"/>
                    <a:pt x="1450327" y="1451035"/>
                  </a:cubicBezTo>
                  <a:lnTo>
                    <a:pt x="33865" y="1451035"/>
                  </a:lnTo>
                  <a:cubicBezTo>
                    <a:pt x="24883" y="1451035"/>
                    <a:pt x="16270" y="1447467"/>
                    <a:pt x="9919" y="1441117"/>
                  </a:cubicBezTo>
                  <a:cubicBezTo>
                    <a:pt x="3568" y="1434766"/>
                    <a:pt x="0" y="1426152"/>
                    <a:pt x="0" y="1417171"/>
                  </a:cubicBezTo>
                  <a:lnTo>
                    <a:pt x="0" y="33865"/>
                  </a:lnTo>
                  <a:cubicBezTo>
                    <a:pt x="0" y="24883"/>
                    <a:pt x="3568" y="16270"/>
                    <a:pt x="9919" y="9919"/>
                  </a:cubicBezTo>
                  <a:cubicBezTo>
                    <a:pt x="16270" y="3568"/>
                    <a:pt x="24883" y="0"/>
                    <a:pt x="33865" y="0"/>
                  </a:cubicBezTo>
                  <a:close/>
                </a:path>
              </a:pathLst>
            </a:custGeom>
            <a:blipFill>
              <a:blip r:embed="rId4"/>
              <a:stretch>
                <a:fillRect l="-23508" t="0" r="-23508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161755" y="7762150"/>
            <a:ext cx="143610" cy="143610"/>
          </a:xfrm>
          <a:custGeom>
            <a:avLst/>
            <a:gdLst/>
            <a:ahLst/>
            <a:cxnLst/>
            <a:rect r="r" b="b" t="t" l="l"/>
            <a:pathLst>
              <a:path h="143610" w="143610">
                <a:moveTo>
                  <a:pt x="0" y="0"/>
                </a:moveTo>
                <a:lnTo>
                  <a:pt x="143610" y="0"/>
                </a:lnTo>
                <a:lnTo>
                  <a:pt x="143610" y="143609"/>
                </a:lnTo>
                <a:lnTo>
                  <a:pt x="0" y="1436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40951" y="1974402"/>
            <a:ext cx="4692898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0"/>
              </a:lnSpc>
            </a:pPr>
            <a:r>
              <a:rPr lang="en-US" b="true" sz="6500" spc="-104">
                <a:solidFill>
                  <a:srgbClr val="1E1E1C"/>
                </a:solidFill>
                <a:latin typeface="Inter Bold"/>
                <a:ea typeface="Inter Bold"/>
                <a:cs typeface="Inter Bold"/>
                <a:sym typeface="Inter Bold"/>
              </a:rPr>
              <a:t>Conclusión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86891" y="431251"/>
            <a:ext cx="2720107" cy="668693"/>
          </a:xfrm>
          <a:custGeom>
            <a:avLst/>
            <a:gdLst/>
            <a:ahLst/>
            <a:cxnLst/>
            <a:rect r="r" b="b" t="t" l="l"/>
            <a:pathLst>
              <a:path h="668693" w="2720107">
                <a:moveTo>
                  <a:pt x="0" y="0"/>
                </a:moveTo>
                <a:lnTo>
                  <a:pt x="2720107" y="0"/>
                </a:lnTo>
                <a:lnTo>
                  <a:pt x="2720107" y="668693"/>
                </a:lnTo>
                <a:lnTo>
                  <a:pt x="0" y="668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DAHXcKIo5zE</dc:identifier>
  <dcterms:modified xsi:type="dcterms:W3CDTF">2011-08-01T06:04:30Z</dcterms:modified>
  <cp:revision>1</cp:revision>
  <dc:title>Proyecto:</dc:title>
</cp:coreProperties>
</file>